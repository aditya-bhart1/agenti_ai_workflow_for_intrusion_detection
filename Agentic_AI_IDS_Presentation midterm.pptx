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500" b="0" i="0" u="none" strike="noStrike">
                <a:solidFill>
                  <a:srgbClr val="1A1A2E"/>
                </a:solidFill>
                <a:latin typeface="Arial"/>
              </a:rPr>
              <a:t>Flow Records by Class (n = 286,467)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Flow count</c:v>
                </c:pt>
              </c:strCache>
            </c:strRef>
          </c:tx>
          <c:spPr>
            <a:solidFill>
              <a:srgbClr val="3D5AF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PortScan</c:v>
                </c:pt>
                <c:pt idx="1">
                  <c:v>BENIGN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158930</c:v>
                </c:pt>
                <c:pt idx="1">
                  <c:v>127537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19-4BA9-8F02-E1D9886239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976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1031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Workflow for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Intrusion Detection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59"/>
            <a:ext cx="10058400" cy="116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Review &amp; Roadmap  —  Built on the </a:t>
            </a:r>
            <a:r>
              <a:rPr lang="en-US" sz="18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CICIDS2017 Dataset</a:t>
            </a:r>
          </a:p>
          <a:p>
            <a:pPr marL="0" indent="0">
              <a:buNone/>
            </a:pPr>
            <a:endParaRPr lang="en-US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under – Dr. Susheela Vishnoi</a:t>
            </a:r>
          </a:p>
          <a:p>
            <a:pPr marL="0" indent="0">
              <a:buNone/>
            </a:pPr>
            <a:endParaRPr lang="en-US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Swami – 2427030177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Agentic AI for IDS?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ML-based intrusion detection stops at classification — it never decides what to do next.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 only label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/ DT / kNN output “attack” or “benign” — nothing acts on that result.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971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reasoning over context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4747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hits from one IP, timing patterns, severity — all ignored by a flat classifier.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971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autonomous response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4747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still has to read the alert and manually decide: block, escalate, or ignore.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92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gap: detection exists. Autonomous decision-making does not.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CICIDS2017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daily capture files, CICFlowMeter-extracted network flows, 78 traffic features per flow.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577840" cy="4114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/ Attacks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only (baseline)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Tuesday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+ Brute Force (FTP / SSH)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Wednesday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+ DoS / DDoS + Heartbleed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Thursday (AM)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+ Web Attacks (SQLi, XSS)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Thursday (PM)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+ Infiltration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Friday (AM)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+ Botnet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Friday (PM) — in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+ PortScan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Friday (PM alt.)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+ DDoS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78308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0" y="2057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Friday-Afternoon-PortScan.csv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286,467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28163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flow records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3429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35021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(78 features + label)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4114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158,930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41879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PortScan-labeled flows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4800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127,537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0" y="4873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BENIGN-labeled flows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5486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356 / 15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0" y="55595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Infinity / NaN values cleaned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Completed: Data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084832" cy="2377440"/>
          </a:xfrm>
          <a:prstGeom prst="roundRect">
            <a:avLst>
              <a:gd name="adj" fmla="val 4386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1335024" y="2331720"/>
            <a:ext cx="512064" cy="512064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35024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01568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pandas.read_csv() on the PortScan capture file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633472" y="24231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98064" y="2103120"/>
            <a:ext cx="2084832" cy="2377440"/>
          </a:xfrm>
          <a:prstGeom prst="roundRect">
            <a:avLst>
              <a:gd name="adj" fmla="val 4386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3584448" y="2331720"/>
            <a:ext cx="512064" cy="512064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444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35224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columns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35224" y="3401568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 whitespace from all 79 header names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82896" y="24231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47488" y="2103120"/>
            <a:ext cx="2084832" cy="2377440"/>
          </a:xfrm>
          <a:prstGeom prst="roundRect">
            <a:avLst>
              <a:gd name="adj" fmla="val 4386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5833872" y="2331720"/>
            <a:ext cx="512064" cy="512064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33872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184648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Inf/NaN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184648" y="3401568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±Infinity → NaN, drop the ~371 affected rows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24231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96912" y="2103120"/>
            <a:ext cx="2084832" cy="2377440"/>
          </a:xfrm>
          <a:prstGeom prst="roundRect">
            <a:avLst>
              <a:gd name="adj" fmla="val 4386"/>
            </a:avLst>
          </a:prstGeom>
          <a:solidFill>
            <a:srgbClr val="F4F6FB"/>
          </a:solidFill>
          <a:ln/>
        </p:spPr>
      </p:sp>
      <p:sp>
        <p:nvSpPr>
          <p:cNvPr id="22" name="Shape 20"/>
          <p:cNvSpPr/>
          <p:nvPr/>
        </p:nvSpPr>
        <p:spPr>
          <a:xfrm>
            <a:off x="8083296" y="2331720"/>
            <a:ext cx="512064" cy="512064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83296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34072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label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34072" y="3401568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PortScan → 1, BENIGN → 0 (binary target)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381744" y="24231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546336" y="2103120"/>
            <a:ext cx="2084832" cy="2377440"/>
          </a:xfrm>
          <a:prstGeom prst="roundRect">
            <a:avLst>
              <a:gd name="adj" fmla="val 4386"/>
            </a:avLst>
          </a:prstGeom>
          <a:solidFill>
            <a:srgbClr val="F4F6FB"/>
          </a:solidFill>
          <a:ln/>
        </p:spPr>
      </p:sp>
      <p:sp>
        <p:nvSpPr>
          <p:cNvPr id="28" name="Shape 26"/>
          <p:cNvSpPr/>
          <p:nvPr/>
        </p:nvSpPr>
        <p:spPr>
          <a:xfrm>
            <a:off x="10332720" y="2331720"/>
            <a:ext cx="512064" cy="512064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332720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683496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features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683496" y="3401568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78 flow features, y = binary label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8006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4400" y="48006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a clean, balanced-enough binary dataset (55% PortScan / 45% BENIGN) ready to train a baseline classifier.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papers benchmark classifiers on CICIDS2017 — none build an autonomous decision layer.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7033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Maseer et al. — IEEE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Benchmarks 10 ML/DL classifiers, per-class metrics + time/memory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Analyzing &amp; Contrasting ML Algorithms for IDS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 + feature-group scaling (25/50/75/100%) across RF/DT/kNN/MLP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Panwar et al. — WEKA study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/ J48 / DT, tests discretization vs. raw continuous features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Comparative ML vs. Deep RL for Adaptive IDS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RF/DT vs. Deep Q-Learning; RL generalizes better to zero-day attacks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94360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FF4E5"/>
          </a:solidFill>
          <a:ln/>
        </p:spPr>
      </p:sp>
      <p:sp>
        <p:nvSpPr>
          <p:cNvPr id="4" name="Text 3"/>
          <p:cNvSpPr txBox="1"/>
          <p:nvPr/>
        </p:nvSpPr>
        <p:spPr>
          <a:xfrm>
            <a:off x="822960" y="59436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identified: no paper combines LLM/agentic reasoning with an IDS classifier to choose and justify a response action.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Distribution — PortScan File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Reasonably balanced for binary classification — no heavy SMOTE oversampling required for this attack type.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097280" y="1920240"/>
          <a:ext cx="9966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layer feeds a reasoning agent that decides — and justifies — the response.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/ replayed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flows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697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20440" y="196596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0" y="2148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Layer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6517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classifier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 / DT)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classify_flow() tool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697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55080" y="196596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3D5AF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2148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6517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orchestrator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over context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2697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89720" y="196596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1E7A4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26880" y="2148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26517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· Block ·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· Log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explanation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709160"/>
            <a:ext cx="1805940" cy="45720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709160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classify_flow()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20340" y="4709160"/>
            <a:ext cx="2414016" cy="45720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20340" y="470916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lookup_ip_reputation()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62956" y="470916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62956" y="4709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block_ip()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63156" y="4709160"/>
            <a:ext cx="1719072" cy="45720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63156" y="47091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notify_admin()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10828" y="4709160"/>
            <a:ext cx="2066544" cy="45720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10828" y="470916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query_past_flows()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5577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doesn’t just classify — it decides what to do next, and can explain why.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64792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2221992"/>
            <a:ext cx="0" cy="804672"/>
          </a:xfrm>
          <a:prstGeom prst="line">
            <a:avLst/>
          </a:prstGeom>
          <a:noFill/>
          <a:ln w="19050">
            <a:solidFill>
              <a:srgbClr val="D1D5DB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1371600" y="1691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baseline classifier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6916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/ DT on cleaned PortScan data; report accuracy, precision, recall, F1 per class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60904"/>
            <a:ext cx="457200" cy="45720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3118104"/>
            <a:ext cx="0" cy="804672"/>
          </a:xfrm>
          <a:prstGeom prst="line">
            <a:avLst/>
          </a:prstGeom>
          <a:noFill/>
          <a:ln w="19050">
            <a:solidFill>
              <a:srgbClr val="D1D5DB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1371600" y="258775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classifier as a tool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58775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classify_flow() via function calling for an LLM agent to 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57016"/>
            <a:ext cx="457200" cy="45720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" y="4014216"/>
            <a:ext cx="0" cy="804672"/>
          </a:xfrm>
          <a:prstGeom prst="line">
            <a:avLst/>
          </a:prstGeom>
          <a:noFill/>
          <a:ln w="19050">
            <a:solidFill>
              <a:srgbClr val="D1D5DB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1371600" y="348386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agent loop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483864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ReAct-style orchestration: call classifier → reason over context → pick an action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453128"/>
            <a:ext cx="457200" cy="45720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8680" y="4910328"/>
            <a:ext cx="0" cy="804672"/>
          </a:xfrm>
          <a:prstGeom prst="line">
            <a:avLst/>
          </a:prstGeom>
          <a:noFill/>
          <a:ln w="19050">
            <a:solidFill>
              <a:srgbClr val="D1D5DB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1371600" y="437997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supporting tools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379976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reputation lookup, historical flow query, block / alert actions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349240"/>
            <a:ext cx="457200" cy="45720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27608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agent decisions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5276088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classifier accuracy — was the chosen action correct and justified?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5029200" cy="4023360"/>
          </a:xfrm>
          <a:prstGeom prst="roundRect">
            <a:avLst>
              <a:gd name="adj" fmla="val 2727"/>
            </a:avLst>
          </a:prstGeom>
          <a:solidFill>
            <a:srgbClr val="2A357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2240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8803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CICIDS2017 PortScan file loaded &amp; cleaned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566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78-feature, 286K-row dataset ready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2519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 papers reviewed — classification-only gap confirmed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029200" cy="4023360"/>
          </a:xfrm>
          <a:prstGeom prst="roundRect">
            <a:avLst>
              <a:gd name="adj" fmla="val 2727"/>
            </a:avLst>
          </a:prstGeom>
          <a:solidFill>
            <a:srgbClr val="3D5AF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0" y="2240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8803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Train baseline RF / DT classifier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566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Wrap it as an agent-callable tool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42519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agent reasoning + action loop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9377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Evaluate decision quality, not just accuracy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172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774</Words>
  <Application>Microsoft Office PowerPoint</Application>
  <PresentationFormat>Widescreen</PresentationFormat>
  <Paragraphs>155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shiv ram</cp:lastModifiedBy>
  <cp:revision>3</cp:revision>
  <dcterms:created xsi:type="dcterms:W3CDTF">2026-09-15T21:20:35Z</dcterms:created>
  <dcterms:modified xsi:type="dcterms:W3CDTF">2026-09-16T06:25:33Z</dcterms:modified>
</cp:coreProperties>
</file>